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E8A317"/>
                </a:solidFill>
                <a:latin typeface="Calibri"/>
              </a:rPr>
              <a:t>ALU EMBA 2026 · DATA SCIENCE &amp; AI · PRE-FINAL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JointHub Africa
AI Mentor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BF7F0"/>
                </a:solidFill>
                <a:latin typeface="Calibri"/>
              </a:rPr>
              <a:t>Capstone II Pre-Final · Implementation / Execution Report.
A working staging product — not a mock-up.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9D5CF"/>
                </a:solidFill>
                <a:latin typeface="Calibri"/>
              </a:rPr>
              <a:t>Isaiah Kporon · Co-founder &amp; Executive Director, SimpleJoint Trust
Kigali, Rwanda · 15–20 min + Q&amp;A · Deadline 30 August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2560320" cy="365760"/>
          </a:xfrm>
          <a:prstGeom prst="roundRect">
            <a:avLst>
              <a:gd name="adj" fmla="val 12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75504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E8A317"/>
                </a:solidFill>
                <a:latin typeface="Calibri"/>
              </a:rPr>
              <a:t>Staging product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5120640"/>
            <a:ext cx="4114800" cy="365760"/>
          </a:xfrm>
          <a:prstGeom prst="roundRect">
            <a:avLst>
              <a:gd name="adj" fmla="val 12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5175504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E8A317"/>
                </a:solidFill>
                <a:latin typeface="Calibri"/>
              </a:rPr>
              <a:t>$158,000+ · 85+ students · 6+ countries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120640"/>
            <a:ext cx="2560320" cy="365760"/>
          </a:xfrm>
          <a:prstGeom prst="roundRect">
            <a:avLst>
              <a:gd name="adj" fmla="val 12000"/>
            </a:avLst>
          </a:prstGeom>
          <a:solidFill>
            <a:srgbClr val="0A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5175504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E8A317"/>
                </a:solidFill>
                <a:latin typeface="Calibri"/>
              </a:rPr>
              <a:t>Four AI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SimpleJoint Trust · JointHub Africa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staging.app.simplejoint-trust-4b4a02.cofounder.company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Mentor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2 · PANEL MIRROR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Agenda for a 15–20 minute dry-run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2024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1. Capstone I recap → Capstone II pivot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2. Problem, objectives, market gap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3. Implementation &amp; architecture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4. Four AI modules + results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5. Live staging demo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6. Lessons, sustainability, next steps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7. Q&amp;A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5486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Assignment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510"/>
                </a:solidFill>
                <a:latin typeface="Calibri"/>
              </a:rPr>
              <a:t>• 15–20 min presentation + 5–10 min Q&amp;A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510"/>
                </a:solidFill>
                <a:latin typeface="Calibri"/>
              </a:rPr>
              <a:t>• All group members participate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510"/>
                </a:solidFill>
                <a:latin typeface="Calibri"/>
              </a:rPr>
              <a:t>• Record full session (talk + Q&amp;A)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510"/>
                </a:solidFill>
                <a:latin typeface="Calibri"/>
              </a:rPr>
              <a:t>• Peer forms → consolidated report after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My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8056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Invisible pathways → working OS → market gap → four AI modules on staging → honest caveats before 30 Aug.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4406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A317"/>
                </a:solidFill>
                <a:latin typeface="Calibri"/>
              </a:rPr>
              <a:t>Impact story: https://youtu.be/N2zkDPTadfE?si=7dskJXIoW5DUx_UX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Present · Record · Collect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Capstone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 →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3 · LEARNING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From Capstone I learning to Capstone II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Capstone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AI/DS exploration in conservation context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Faculty/peer push: relevance &amp; measurability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Insight: disengagement rises when pathways are invisible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Capstone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JointHub Africa Mentor Hub as working MVP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Opportunity intelligence + mentorship + risk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Action research: design → build → demo → improve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ESL / SimpleJoint Trust real programme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Problem 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4 · PROBLEM &amp;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Fragmented pathways. Late signals. Weak matching.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5486400" cy="301752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Fragmented opportunity discovery for African scholars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Uneven mentorship access and weak matching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Late signals when engagement drops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Lists without guidance or programme glue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486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Execution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Personalised opportunity ranking (Precision@5)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Mentor–mentee matching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Risk flags + outreach prompts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Explainable NLP / Why recommended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Demoable role-aware product on staging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Org impact context (not model KPIs):  $158,000+ scholarships &amp; grants  ·  85+ students  ·  6+ countries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Competitive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5 · WHO ELSE IS IN THIS SPACE?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Lists help you browse. ADPList helps you book. JointHub runs the 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Opportunity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Opportunity Desk, After School Africa, OFA, Scholars4Dev — browse &amp; SEO, weak personalisation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6596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Mentor marketplaces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ADPList (~38k+ mentors) — session booking at global scale, not programme risk 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6596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Skills pathways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ALX-like ecosystems — training first, not multi-source opportunity + cohort risk 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11247120" cy="141732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Gap JointHub fills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37760"/>
            <a:ext cx="10789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Personalised opportunity intelligence + programme mentorship + early-warning risk as one operating system for African scholar cohorts — not another scholarship blog, and not a global open mentor marketplace alone.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Product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6 · INTERVENTION &amp;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Mentor Hub MVP — role-aware by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3611880" cy="246888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Scholars / leaders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32461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Ranked opportunities, assigned mentor, Why recommended, Kay coaching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611880" cy="24688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Mentors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32461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510"/>
                </a:solidFill>
                <a:latin typeface="Calibri"/>
              </a:rPr>
              <a:t>Mentee assignment, session booking/log, alternatives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611880" cy="24688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Admins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2461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510"/>
                </a:solidFill>
                <a:latin typeface="Calibri"/>
              </a:rPr>
              <a:t>Cohort risk queue, outreach prompt, analytics — not scholar surveillance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44A"/>
                </a:solidFill>
                <a:latin typeface="Calibri"/>
              </a:rPr>
              <a:t>Entry: Login (demo) · Sign Up (prod shell) · Join as Mentor
Canva = UX north star · Staging = AI proof
Say: “Scholars get guidance. Mentors get mentees. Admins get cohort risk — not the other way around.”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Build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7 · ACTION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Plan → Build → Validate → 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50292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103120"/>
            <a:ext cx="374903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Stakeholders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70632"/>
            <a:ext cx="1463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770632"/>
            <a:ext cx="3657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Capstone I pivot, SMART objectives, 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7063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Isaiah, faculty, peers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70632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Capstone I → II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47872"/>
            <a:ext cx="1463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547872"/>
            <a:ext cx="3657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Next.js Mentor Hub + ML companion + 4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54787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Eng / Cofounder + 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547872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Jul–Aug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25112"/>
            <a:ext cx="1463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325112"/>
            <a:ext cx="3657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Sample-cohort KPIs, staging verify, polish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32511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Eng + ED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325112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Aug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37760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02352"/>
            <a:ext cx="1463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Pilot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102352"/>
            <a:ext cx="3657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ESL channels, mentor roster, surveys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102352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Programme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102352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Through 30 Aug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8 · LIGHT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Working stack on staging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2194560" cy="320040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1920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Next.js + role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103120"/>
            <a:ext cx="2194560" cy="32004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2402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743200"/>
            <a:ext cx="1920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Six Capstone JSON schemas
(pilot → Sheets/Supabase)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103120"/>
            <a:ext cx="2194560" cy="320040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2402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3200"/>
            <a:ext cx="1920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/api/jointhub/*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103120"/>
            <a:ext cx="2194560" cy="32004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2402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1920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FastAPI companion
(scikit-learn stack)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59" y="2103120"/>
            <a:ext cx="2194560" cy="320040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39" y="224028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743200"/>
            <a:ext cx="192024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Vercel staging
Prod ED-gated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AI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Four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9 · VISIBLE IN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Four AI modules — not only a methods chapter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01  Opportunity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5212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510"/>
                </a:solidFill>
                <a:latin typeface="Calibri"/>
              </a:rPr>
              <a:t>Cosine similarity + hard filters → Top 5 ranked opportunities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6596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02  Mentor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5212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510"/>
                </a:solidFill>
                <a:latin typeface="Calibri"/>
              </a:rPr>
              <a:t>Compatibility matrix + Hungarian assignment for cohort pairs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03  Dropout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5212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510"/>
                </a:solidFill>
                <a:latin typeface="Calibri"/>
              </a:rPr>
              <a:t>Logistic score + RF importance + admin outreach prompt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56235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5257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04  NLP /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72000"/>
            <a:ext cx="5212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510"/>
                </a:solidFill>
                <a:latin typeface="Calibri"/>
              </a:rPr>
              <a:t>Entities + personalised sentence + Why recommended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10 · SAMPLE-COHORT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Core KPIs met — with an honest AUC caveat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574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Observed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5740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1460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Precision@5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6060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≥ 0.75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0604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510"/>
                </a:solidFill>
                <a:latin typeface="Calibri"/>
              </a:rPr>
              <a:t>0.8583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0604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B5E20"/>
                </a:solidFill>
                <a:latin typeface="Calibri"/>
              </a:rPr>
              <a:t>Met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Mentor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1089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≥ 0.70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1089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510"/>
                </a:solidFill>
                <a:latin typeface="Calibri"/>
              </a:rPr>
              <a:t>0.7778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B5E20"/>
                </a:solidFill>
                <a:latin typeface="Calibri"/>
              </a:rPr>
              <a:t>Met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6118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Dropout 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611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≥ 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510"/>
                </a:solidFill>
                <a:latin typeface="Calibri"/>
              </a:rPr>
              <a:t>1.00 synthetic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61188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5309"/>
                </a:solidFill>
                <a:latin typeface="Calibri"/>
              </a:rPr>
              <a:t>Met with caveat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2336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NLP entity 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11480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≥ 0.80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510"/>
                </a:solidFill>
                <a:latin typeface="Calibri"/>
              </a:rPr>
              <a:t>0.85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114800"/>
            <a:ext cx="2651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B5E20"/>
                </a:solidFill>
                <a:latin typeface="Calibri"/>
              </a:rPr>
              <a:t>Met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Say aloud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16636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AUC 1.0 is a demonstration ceiling under synthetic labels — we will not overclaim field performance.
Sample signals: ~24 users · 117 matches · 11 mentor pairs · 11 risk flags · NPS proxy 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Staging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11 · ~2.5 MINUTES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Demo path on staging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11680"/>
            <a:ext cx="2240280" cy="329184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07020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Home CTAs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1965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Login · Sign Up · Join as Mentor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79" y="2011680"/>
            <a:ext cx="2240280" cy="329184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39" y="219456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8A317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65176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leader1@jointhub.demo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749039"/>
            <a:ext cx="1965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Opportunities Top 5 + Why recommended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011680"/>
            <a:ext cx="2240280" cy="329184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19456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0702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5176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Mentor Hub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39"/>
            <a:ext cx="1965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Assignment / alternatives /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2011680"/>
            <a:ext cx="2240280" cy="329184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19456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0702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65176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mentor1@jointhub.demo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49039"/>
            <a:ext cx="1965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510"/>
                </a:solidFill>
                <a:latin typeface="Calibri"/>
              </a:rPr>
              <a:t>Mentor shell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011680"/>
            <a:ext cx="2240280" cy="329184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194560"/>
            <a:ext cx="1965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8A317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65176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admin@jointhub.demo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749039"/>
            <a:ext cx="1965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Dropout risk queue +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44A"/>
                </a:solidFill>
                <a:latin typeface="Calibri"/>
              </a:rPr>
              <a:t>Backup: Library screenshots if bandwidth fails  ·  staging.app.simplejoint-trust-4b4a02.cofounder.company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Reflection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Lessons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12 · WHAT WORKED /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Lessons &amp; challenges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5486400" cy="393192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B5E20"/>
                </a:solidFill>
                <a:latin typeface="Calibri"/>
              </a:rPr>
              <a:t>Worked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Vertical slice &gt; notebooks alone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Student / mentor / admin role paths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Explainability panels (Why recommended)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Honest caveats on synthetic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65960"/>
            <a:ext cx="548640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Synthetic labels limit field claims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Demo data vs live Sheets/Supabase path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Mentor roster depth still thin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510"/>
                </a:solidFill>
                <a:latin typeface="Calibri"/>
              </a:rPr>
              <a:t>• IA still mixing Capstone evidence into scholar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Scale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13 · AFTER THE DRY-RUN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Sustainability &amp;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11247120" cy="65836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3055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30552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ESL cohort as founding users; mentors from alumni/partners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11247120" cy="658368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6207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62072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510"/>
                </a:solidFill>
                <a:latin typeface="Calibri"/>
              </a:rPr>
              <a:t>Graduate JSON → Sheets/Supabase; retrain risk on real labels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11247120" cy="65836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9359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93592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Admin queue — no auto-email without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11247120" cy="658368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07020"/>
                </a:solidFill>
                <a:latin typeface="Calibri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325112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1510"/>
                </a:solidFill>
                <a:latin typeface="Calibri"/>
              </a:rPr>
              <a:t>Chapter model (ALU / MCN / partners) after pilot quality bar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92040"/>
            <a:ext cx="11247120" cy="65836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56631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Ethics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56631"/>
            <a:ext cx="8686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Role permissions; no scholar-facing cohort surveillance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Next 3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Before 30 Aug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14 ·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Before the final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3611880" cy="384048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P0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Peer-driven slide cuts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Tighten demo to 2.5 minutes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Keep caveat language on every risk metric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611880" cy="38404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P1 Product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Live data connection path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Real mentor roster (≥10)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Survey / bootcamp impact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611880" cy="38404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3D2E"/>
                </a:solidFill>
                <a:latin typeface="Calibri"/>
              </a:rPr>
              <a:t>P2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Keep competitive gap slide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Separate org impact from sample KPIs always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510"/>
                </a:solidFill>
                <a:latin typeface="Calibri"/>
              </a:rPr>
              <a:t>• Use peer feedback as backlog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JointHub Africa · Capstone 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Close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Questions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15 ·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Working AI Mentor Hub. Clear gap. Clear caveats.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6583680" cy="3840480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E8A317"/>
                </a:solidFill>
                <a:latin typeface="Calibri"/>
              </a:rPr>
              <a:t>What we 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6126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Four AI modules on a role-aware product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Staging demo path for scholars, mentors, admins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Category gap vs lists and mentor marketplaces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Honest limits on synthetic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4389120" cy="173736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5C544A"/>
                </a:solidFill>
                <a:latin typeface="Calibri"/>
              </a:rPr>
              <a:t>Org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60320"/>
            <a:ext cx="4023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F3D2E"/>
                </a:solidFill>
                <a:latin typeface="Calibri"/>
              </a:rPr>
              <a:t>$158k+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54680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510"/>
                </a:solidFill>
                <a:latin typeface="Calibri"/>
              </a:rPr>
              <a:t>85+ students · 6+ countries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931920"/>
            <a:ext cx="4389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11480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5C544A"/>
                </a:solidFill>
                <a:latin typeface="Calibri"/>
              </a:rPr>
              <a:t>Precision@5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80560"/>
            <a:ext cx="4023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F3D2E"/>
                </a:solidFill>
                <a:latin typeface="Calibri"/>
              </a:rPr>
              <a:t>0.86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7492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44A"/>
                </a:solidFill>
                <a:latin typeface="Calibri"/>
              </a:rPr>
              <a:t>Sample met target · AUC caveat retained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Isaiah Kporon · SimpleJoint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ALU EMBA 2026 · Kigali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E3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"/>
            <a:ext cx="4572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F3D2E"/>
                </a:solidFill>
                <a:latin typeface="Calibri"/>
              </a:rPr>
              <a:t>JointHub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"/>
            <a:ext cx="4572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544A"/>
                </a:solidFill>
                <a:latin typeface="Calibri"/>
              </a:rPr>
              <a:t>SimpleJoint Trust · Q&amp;A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64592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19456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Crisp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686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020"/>
                </a:solidFill>
                <a:latin typeface="Calibri"/>
              </a:rPr>
              <a:t>SLIDE 16 · ANTICIPATE THE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F3D2E"/>
                </a:solidFill>
                <a:latin typeface="Calibri"/>
              </a:rPr>
              <a:t>Q&amp;A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659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0312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Isn’t this Opportunity Desk?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0604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They list. We rank, match mentors, and flag risk inside a programme 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659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Isn’t this ADPList?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0604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ADPList scales free mentorship globally. We embed mentorship with opportunities + retention for ESL cohorts.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6596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Is AUC 1.0 real?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No — synthetic labels; demo ceiling; retrain planned on real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9476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Is this production?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976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Staging MVP. Production publish is ED-gated.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9476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Where is the AI?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976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Ranking, matching, risk, NLP, Why recommended — all visible in product tabs.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5760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794760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F3D2E"/>
                </a:solidFill>
                <a:latin typeface="Calibri"/>
              </a:rPr>
              <a:t>Privacy?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1510"/>
                </a:solidFill>
                <a:latin typeface="Calibri"/>
              </a:rPr>
              <a:t>Role matrix. Scholars do not see cohort surveillance tables.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6400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52881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E8A317"/>
                </a:solidFill>
                <a:latin typeface="Calibri"/>
              </a:rPr>
              <a:t>Lead with service. Build with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